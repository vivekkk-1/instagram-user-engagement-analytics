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5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41B3A"/>
                </a:solidFill>
                <a:latin typeface="Cambria"/>
              </a:defRPr>
            </a:pPr>
            <a:r>
              <a:rPr sz="1300" b="0" i="0" u="none" strike="noStrike">
                <a:solidFill>
                  <a:srgbClr val="241B3A"/>
                </a:solidFill>
                <a:latin typeface="Cambria"/>
              </a:rPr>
              <a:t>Top 8 users by number of posts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Posts</c:v>
                </c:pt>
              </c:strCache>
            </c:strRef>
          </c:tx>
          <c:spPr>
            <a:solidFill>
              <a:srgbClr val="5B2A8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41B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Eveline95</c:v>
                  </c:pt>
                  <c:pt idx="1">
                    <c:v>Clint27</c:v>
                  </c:pt>
                  <c:pt idx="2">
                    <c:v>Cesar93</c:v>
                  </c:pt>
                  <c:pt idx="3">
                    <c:v>Delfina_VonR…</c:v>
                  </c:pt>
                  <c:pt idx="4">
                    <c:v>Aurelie71</c:v>
                  </c:pt>
                  <c:pt idx="5">
                    <c:v>Jaime53</c:v>
                  </c:pt>
                  <c:pt idx="6">
                    <c:v>Donald.Frits…</c:v>
                  </c:pt>
                  <c:pt idx="7">
                    <c:v>Colten.Harri…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12</c:v>
                </c:pt>
                <c:pt idx="1">
                  <c:v>11</c:v>
                </c:pt>
                <c:pt idx="2">
                  <c:v>10</c:v>
                </c:pt>
                <c:pt idx="3">
                  <c:v>9</c:v>
                </c:pt>
                <c:pt idx="4">
                  <c:v>8</c:v>
                </c:pt>
                <c:pt idx="5">
                  <c:v>8</c:v>
                </c:pt>
                <c:pt idx="6">
                  <c:v>6</c:v>
                </c:pt>
                <c:pt idx="7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41B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1800000"/>
          <a:lstStyle/>
          <a:p>
            <a:pPr>
              <a:defRPr sz="1000" b="0" i="0" u="none" strike="noStrike">
                <a:solidFill>
                  <a:srgbClr val="6B6B7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E7E2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B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41B3A"/>
                </a:solidFill>
                <a:latin typeface="Cambria"/>
              </a:defRPr>
            </a:pPr>
            <a:r>
              <a:rPr sz="1300" b="0" i="0" u="none" strike="noStrike">
                <a:solidFill>
                  <a:srgbClr val="241B3A"/>
                </a:solidFill>
                <a:latin typeface="Cambria"/>
              </a:rPr>
              <a:t>Top 8 users by total likes + comments received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Engagement</c:v>
                </c:pt>
              </c:strCache>
            </c:strRef>
          </c:tx>
          <c:spPr>
            <a:solidFill>
              <a:srgbClr val="D6297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41B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Eveline95</c:v>
                  </c:pt>
                  <c:pt idx="1">
                    <c:v>Clint27</c:v>
                  </c:pt>
                  <c:pt idx="2">
                    <c:v>Cesar93</c:v>
                  </c:pt>
                  <c:pt idx="3">
                    <c:v>Delfina_VonR…</c:v>
                  </c:pt>
                  <c:pt idx="4">
                    <c:v>Aurelie71</c:v>
                  </c:pt>
                  <c:pt idx="5">
                    <c:v>Jaime53</c:v>
                  </c:pt>
                  <c:pt idx="6">
                    <c:v>Donald.Frits…</c:v>
                  </c:pt>
                  <c:pt idx="7">
                    <c:v>Janet.Armstr…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749</c:v>
                </c:pt>
                <c:pt idx="1">
                  <c:v>660</c:v>
                </c:pt>
                <c:pt idx="2">
                  <c:v>646</c:v>
                </c:pt>
                <c:pt idx="3">
                  <c:v>558</c:v>
                </c:pt>
                <c:pt idx="4">
                  <c:v>522</c:v>
                </c:pt>
                <c:pt idx="5">
                  <c:v>500</c:v>
                </c:pt>
                <c:pt idx="6">
                  <c:v>392</c:v>
                </c:pt>
                <c:pt idx="7">
                  <c:v>334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41B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1800000"/>
          <a:lstStyle/>
          <a:p>
            <a:pPr>
              <a:defRPr sz="1000" b="0" i="0" u="none" strike="noStrike">
                <a:solidFill>
                  <a:srgbClr val="6B6B7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E7E2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B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62976"/>
              </a:solidFill>
              <a:effectLst/>
            </c:spPr>
          </c:dPt>
          <c:dPt>
            <c:idx val="1"/>
            <c:bubble3D val="0"/>
            <c:spPr>
              <a:solidFill>
                <a:srgbClr val="3A3050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Active (follow &amp; engage)</c:v>
                </c:pt>
                <c:pt idx="1">
                  <c:v>Dormant (no activity)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77</c:v>
                </c:pt>
                <c:pt idx="1">
                  <c:v>23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E4DEEF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41B3A"/>
                </a:solidFill>
                <a:latin typeface="Cambria"/>
              </a:defRPr>
            </a:pPr>
            <a:r>
              <a:rPr sz="1300" b="0" i="0" u="none" strike="noStrike">
                <a:solidFill>
                  <a:srgbClr val="241B3A"/>
                </a:solidFill>
                <a:latin typeface="Cambria"/>
              </a:rPr>
              <a:t>Top 8 hashtags by average likes per post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likes per post</c:v>
                </c:pt>
              </c:strCache>
            </c:strRef>
          </c:tx>
          <c:spPr>
            <a:solidFill>
              <a:srgbClr val="F9C84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41B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#dreamy</c:v>
                  </c:pt>
                  <c:pt idx="1">
                    <c:v>#beauty</c:v>
                  </c:pt>
                  <c:pt idx="2">
                    <c:v>#stunning</c:v>
                  </c:pt>
                  <c:pt idx="3">
                    <c:v>#delicious</c:v>
                  </c:pt>
                  <c:pt idx="4">
                    <c:v>#foodie</c:v>
                  </c:pt>
                  <c:pt idx="5">
                    <c:v>#happy</c:v>
                  </c:pt>
                  <c:pt idx="6">
                    <c:v>#hair</c:v>
                  </c:pt>
                  <c:pt idx="7">
                    <c:v>#photography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35.75</c:v>
                </c:pt>
                <c:pt idx="1">
                  <c:v>34.95</c:v>
                </c:pt>
                <c:pt idx="2">
                  <c:v>34.94</c:v>
                </c:pt>
                <c:pt idx="3">
                  <c:v>34.93</c:v>
                </c:pt>
                <c:pt idx="4">
                  <c:v>34.73</c:v>
                </c:pt>
                <c:pt idx="5">
                  <c:v>34.59</c:v>
                </c:pt>
                <c:pt idx="6">
                  <c:v>34.52</c:v>
                </c:pt>
                <c:pt idx="7">
                  <c:v>34.5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41B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41B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b"/>
        <c:majorGridlines>
          <c:spPr>
            <a:ln w="12700" cap="flat">
              <a:solidFill>
                <a:srgbClr val="E7E2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B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41B3A"/>
                </a:solidFill>
                <a:latin typeface="Cambria"/>
              </a:defRPr>
            </a:pPr>
            <a:r>
              <a:rPr sz="1300" b="0" i="0" u="none" strike="noStrike">
                <a:solidFill>
                  <a:srgbClr val="241B3A"/>
                </a:solidFill>
                <a:latin typeface="Cambria"/>
              </a:rPr>
              <a:t>User segments by top-liked hashtag preference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Users</c:v>
                </c:pt>
              </c:strCache>
            </c:strRef>
          </c:tx>
          <c:spPr>
            <a:solidFill>
              <a:srgbClr val="5B2A8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41B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Smile-interested users</c:v>
                  </c:pt>
                  <c:pt idx="1">
                    <c:v>No identifiable preference</c:v>
                  </c:pt>
                  <c:pt idx="2">
                    <c:v>Beach-interested users</c:v>
                  </c:pt>
                  <c:pt idx="3">
                    <c:v>Fun-interested users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73</c:v>
                </c:pt>
                <c:pt idx="1">
                  <c:v>23</c:v>
                </c:pt>
                <c:pt idx="2">
                  <c:v>5</c:v>
                </c:pt>
                <c:pt idx="3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41B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41B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b"/>
        <c:majorGridlines>
          <c:spPr>
            <a:ln w="12700" cap="flat">
              <a:solidFill>
                <a:srgbClr val="E7E2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B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371600"/>
            <a:ext cx="4572000" cy="4572000"/>
          </a:xfrm>
          <a:prstGeom prst="ellipse">
            <a:avLst/>
          </a:prstGeom>
          <a:solidFill>
            <a:srgbClr val="5B2A86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389120"/>
            <a:ext cx="2926080" cy="2926080"/>
          </a:xfrm>
          <a:prstGeom prst="ellipse">
            <a:avLst/>
          </a:prstGeom>
          <a:solidFill>
            <a:srgbClr val="D62976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5029200"/>
            <a:ext cx="2743200" cy="2743200"/>
          </a:xfrm>
          <a:prstGeom prst="ellipse">
            <a:avLst/>
          </a:prstGeom>
          <a:solidFill>
            <a:srgbClr val="F9C846">
              <a:alpha val="30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2148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PROJECT  ·  DATA ANALYSIS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46888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Instagram Clone: User Engagement</a:t>
            </a:r>
            <a:endParaRPr lang="en-US" sz="42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Growth Analysis</a:t>
            </a:r>
            <a:endParaRPr lang="en-US" sz="4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DB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raw platform data into a roadmap for stronger engagement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5943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Team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629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Like, Comment &amp; Follow Tells a Story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94944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E7E2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87452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2A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Statement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286000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analyzes user behavior on a social-media platform (an Instagram-style clone) to understand what drives engagement, who the platform's most valuable users are, and where growth is being left on the table.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33756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2A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703320"/>
            <a:ext cx="6217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3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the user base and validate data quality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3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users and content that drive the most engagement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3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users by activity level and content preference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3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the findings into concrete marketing recommendations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772400" y="1600200"/>
            <a:ext cx="3840480" cy="4480560"/>
          </a:xfrm>
          <a:prstGeom prst="roundRect">
            <a:avLst>
              <a:gd name="adj" fmla="val 2857"/>
            </a:avLst>
          </a:prstGeom>
          <a:solidFill>
            <a:srgbClr val="241B3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092440" y="1920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092440" y="22860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8092440" y="30175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DB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users generating 8,782 likes and 7,488 comments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92440" y="3886200"/>
            <a:ext cx="3200400" cy="0"/>
          </a:xfrm>
          <a:prstGeom prst="line">
            <a:avLst/>
          </a:prstGeom>
          <a:noFill/>
          <a:ln w="12700">
            <a:solidFill>
              <a:srgbClr val="47356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92440" y="40690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629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77%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470916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DB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users actively follow &amp; engage — the rest are an untapped re-engagement opportunity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629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Is Engagement Really Coming From?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474720" cy="411480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7E2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94560"/>
            <a:ext cx="640080" cy="640080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0175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drives value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566160"/>
            <a:ext cx="2834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users create the most content and generate the most engagement for the platform?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1828800"/>
            <a:ext cx="3474720" cy="411480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7E2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2194560"/>
            <a:ext cx="640080" cy="640080"/>
          </a:xfrm>
          <a:prstGeom prst="ellipse">
            <a:avLst/>
          </a:prstGeom>
          <a:solidFill>
            <a:srgbClr val="D6297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17720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30175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content works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3566160"/>
            <a:ext cx="2834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hashtags and content themes consistently earn the highest engagement?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46720" y="1828800"/>
            <a:ext cx="3474720" cy="411480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7E2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66760" y="2194560"/>
            <a:ext cx="640080" cy="640080"/>
          </a:xfrm>
          <a:prstGeom prst="ellipse">
            <a:avLst/>
          </a:prstGeom>
          <a:solidFill>
            <a:srgbClr val="F9C84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66760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366760" y="30175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is at risk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366760" y="3566160"/>
            <a:ext cx="2834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users are inactive, and what would it take to bring them back?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629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Marketplace Snapshot &amp; Data Quality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7E2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0136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2A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23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297680" y="1691640"/>
            <a:ext cx="35204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7E2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26280" y="180136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2A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257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526280" y="2423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posted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46720" y="1691640"/>
            <a:ext cx="35204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7E2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75320" y="180136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2A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8,782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8275320" y="2423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108960"/>
            <a:ext cx="35204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7E2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321868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2A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7,488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3840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297680" y="3108960"/>
            <a:ext cx="35204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7E2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26280" y="321868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2A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7,623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4526280" y="3840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relationships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046720" y="3108960"/>
            <a:ext cx="35204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7E2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75320" y="321868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2A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8275320" y="3840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hashtags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66344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241B3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68680" y="4846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868680" y="516636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4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null values or duplicate records found across users, photos, comments, likes or follows — the schema's constraints are holding.  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4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post/like/comment timestamps were not populated in the source export, so time-of-day and monthly trend analysis could not be performed reliably.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629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Analytical Approach &amp; Tools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5B2A8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6916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validation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05740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every table for NULLs and duplicate keys before analysis began.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D6297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7432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Relational joins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10896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users, photos, likes, comments, follows and tags with LEFT/INNER JOINs to build a unified activity view.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5B2A8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7947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CTEs &amp; subqueries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16052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Common Table Expressions to pre-aggregate likes, comments and tag counts per photo and per user.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8920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D6297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892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48463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Window functions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521208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RANK() and DENSE_RANK() to rank users by engagement, followers and hashtag performance.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852160" y="1737360"/>
            <a:ext cx="5760720" cy="4297680"/>
          </a:xfrm>
          <a:prstGeom prst="roundRect">
            <a:avLst>
              <a:gd name="adj" fmla="val 2553"/>
            </a:avLst>
          </a:prstGeom>
          <a:solidFill>
            <a:srgbClr val="241B3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172200" y="19659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TOOLKIT USED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172200" y="2377440"/>
            <a:ext cx="51206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E4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/ LEFT JOIN across 6+ tables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E4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Table Expressions (WITH)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E4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RANK() / DENSE_RANK() window functions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E4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COALESCE / NULLIF for safe aggregation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E4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with multi-level aggregation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E4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Subqueries for per-user activity counts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629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01  ·  OBJECTIVE Q2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 Creation Is Highly Concentrated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69494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772400" y="16916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2A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7772400" y="2103120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3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74 of 100 users have ever posted a photo — the other 26 are pure consumers.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3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most active user (Eveline95) posts 2.4x more than the median active poster.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3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core of 6–8 users effectively supplies the platform's content feed.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629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02  ·  OBJECTIVE Q4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Engagement Rewards the Users Who Show Up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69494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772400" y="16916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2A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7772400" y="2103120"/>
            <a:ext cx="38404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3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ranking of top engagement almost exactly mirrors the ranking of top posters — output volume, not luck, drives reach.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3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Eveline95 alone accounts for 749 combined likes &amp; comments, ~9% of all photo engagement.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3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posting is the single strongest lever a user (or the platform) has to grow engagement.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4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03  ·  OBJECTIVE Q5 / Q7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User Base Splits Cleanly in Two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822960" y="1828800"/>
          <a:ext cx="48463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1783080" y="33832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77%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1783080" y="39776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DB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217920" y="18288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C8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data shows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217920" y="2240280"/>
            <a:ext cx="53949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E4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 of 100 users actively follow others and generate likes/comments; 23 have never liked a single post and never follow anyone.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E4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Separately, 26 users have never posted a photo at all — a near-identical inactive segment.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E4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two groups overlap heavily: the platform effectively runs on three-quarters of its registered base.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E4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Reactivating even a third of the dormant group could meaningfully lift total engagement volume.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629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04  ·  OBJECTIVE Q11 / SUBJECTIVE Q3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Handful of Hashtags Punch Above Their Weight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69494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772400" y="16916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2A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7772400" y="2103120"/>
            <a:ext cx="38404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3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#dreamy tops the list at 35.75 average likes per post — aesthetic, lifestyle-style tags consistently outperform.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3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8 hashtags all cluster tightly between 34–36 avg likes, suggesting a genre effect rather than one viral outlier.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3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also carry an average of 1.95 tags each (2.64 among tagged posts) — tagging is common but not maximized.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629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05  ·  SUBJECTIVE Q6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Users Cluster Strongly Around One Content Theme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69494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772400" y="16916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2A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7772400" y="2103120"/>
            <a:ext cx="38404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3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 of users are classified as “smile”-interested based on their liking behavior — a dominant, feel-good content preference.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3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users show no identifiable preference — this segment overlaps with the dormant/never-liked group from Finding 3.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3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Beach and fun-themed niches are small but real micro-segments worth testing targeted content against.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629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06  ·  SUBJECTIVE Q5 / Q8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Users Ready for an Influencer Program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7315200" cy="3108960"/>
        </p:xfrm>
        <a:graphic>
          <a:graphicData uri="http://schemas.openxmlformats.org/drawingml/2006/table">
            <a:tbl>
              <a:tblPr/>
              <a:tblGrid>
                <a:gridCol w="1005840"/>
                <a:gridCol w="2743200"/>
                <a:gridCol w="1280160"/>
                <a:gridCol w="1097280"/>
                <a:gridCol w="1188720"/>
              </a:tblGrid>
              <a:tr h="518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Followers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B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Engagement / post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B3A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629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4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Donald.Fritsch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4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4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4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65.33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629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4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Aurelie71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4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4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4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7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629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4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Cesar93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4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4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4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629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4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Florence99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4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4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4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7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629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4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Jaime53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4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4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4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138160" y="17830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2A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these five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2194560"/>
            <a:ext cx="3474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3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follower reach first, then by engagement per post — reach and resonance together.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3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posts consistently (5–10 photos) rather than relying on a single lucky post.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3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per post of 62–65 is well above the platform average, making these ideal seed partners for a pilot ambassador program.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48640" y="507492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F1EDF7"/>
          </a:solidFill>
          <a:ln w="12700">
            <a:solidFill>
              <a:srgbClr val="E1D8F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5257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5B2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 (ad-campaign effectiveness) could not be answered — the dataset has no impressions/click/conversion table for ad performance.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629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Insight to Action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7E2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47672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D6297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94767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+reach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404872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4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Launch a micro-influencer pilot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83464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the top 5 high-reach, high-engagement users to seed new content themes and drive referral growth.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1691640"/>
            <a:ext cx="53492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7E2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46520" y="1947672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5B2A8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46520" y="194767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+activity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2404872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4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 back the dormant 23%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283464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 with zero likes, follows or posts with a re-engagement nudge (curated feed of #smile / #beauty content, their top preference).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53492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7E2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279392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D6297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27939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+likes/post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736592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4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Double down on top-performing tags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16636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#dreamy, #beauty and #stunning-style themes in feature placement and content prompts — they consistently out-earn average posts.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4023360"/>
            <a:ext cx="53492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7E2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46520" y="4279392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5B2A8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46520" y="427939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+discovery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446520" y="4736592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4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Encourage richer tagging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6446520" y="516636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average only 1.95 tags; nudging creators toward 3+ relevant tags (in line with the 2.64 average for already-tagged posts) can widen discoverability.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4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5B2A86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114800"/>
            <a:ext cx="3657600" cy="3657600"/>
          </a:xfrm>
          <a:prstGeom prst="ellipse">
            <a:avLst/>
          </a:prstGeom>
          <a:solidFill>
            <a:srgbClr val="D62976">
              <a:alpha val="3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280160"/>
            <a:ext cx="9875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Focused Base Drives the Platform —</a:t>
            </a:r>
            <a:endParaRPr lang="en-US" sz="3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That's an Opportunity, Not a Ceiling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880360"/>
            <a:ext cx="8686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1600"/>
              </a:spcAft>
              <a:buSzPct val="100000"/>
              <a:buChar char="▪"/>
            </a:pPr>
            <a:r>
              <a:rPr lang="en-US" sz="1500" dirty="0">
                <a:solidFill>
                  <a:srgbClr val="E4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is clean: no nulls or duplicates across any table, so every insight here rests on a solid foundation.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600"/>
              </a:spcAft>
              <a:buSzPct val="100000"/>
              <a:buChar char="▪"/>
            </a:pPr>
            <a:r>
              <a:rPr lang="en-US" sz="1500" dirty="0">
                <a:solidFill>
                  <a:srgbClr val="E4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is concentrated in roughly three-quarters of the user base — a small set of consistent creators and a handful of standout hashtags account for a disproportionate share of activity.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600"/>
              </a:spcAft>
              <a:buSzPct val="100000"/>
              <a:buChar char="▪"/>
            </a:pPr>
            <a:r>
              <a:rPr lang="en-US" sz="1500" dirty="0">
                <a:solidFill>
                  <a:srgbClr val="E4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clearest growth lever isn't acquiring new users — it's activating the ~23% already on the platform and amplifying the content themes and creators already proven to work.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2026-09-25T05:17:02Z</dcterms:created>
  <dcterms:modified xsi:type="dcterms:W3CDTF">2026-09-25T05:17:02Z</dcterms:modified>
</cp:coreProperties>
</file>